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65" r:id="rId6"/>
    <p:sldId id="26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7969"/>
    <a:srgbClr val="603813"/>
    <a:srgbClr val="F47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41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156" y="-12"/>
      </p:cViewPr>
      <p:guideLst>
        <p:guide orient="horz" pos="2160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4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z="1200" smtClean="0">
                <a:sym typeface="+mn-ea"/>
              </a:rPr>
              <a:t>Click to edit Master text style</a:t>
            </a:r>
            <a:endParaRPr lang="zh-CN" altLang="en-US" sz="1200" smtClean="0"/>
          </a:p>
          <a:p>
            <a:pPr lvl="1"/>
            <a:r>
              <a:rPr lang="zh-CN" altLang="en-US" sz="1200" smtClean="0">
                <a:sym typeface="+mn-ea"/>
              </a:rPr>
              <a:t>Second level</a:t>
            </a:r>
            <a:endParaRPr lang="zh-CN" altLang="en-US" sz="1200" smtClean="0"/>
          </a:p>
          <a:p>
            <a:pPr lvl="2"/>
            <a:r>
              <a:rPr lang="zh-CN" altLang="en-US" sz="1200" smtClean="0">
                <a:sym typeface="+mn-ea"/>
              </a:rPr>
              <a:t>Third level</a:t>
            </a:r>
            <a:endParaRPr lang="zh-CN" altLang="en-US" sz="1200" smtClean="0"/>
          </a:p>
          <a:p>
            <a:pPr lvl="3"/>
            <a:r>
              <a:rPr lang="zh-CN" altLang="en-US" sz="1200" smtClean="0">
                <a:sym typeface="+mn-ea"/>
              </a:rPr>
              <a:t>Fourth level</a:t>
            </a:r>
            <a:endParaRPr lang="zh-CN" altLang="en-US" sz="1200" smtClean="0"/>
          </a:p>
          <a:p>
            <a:pPr lvl="4"/>
            <a:r>
              <a:rPr lang="zh-CN" altLang="en-US" sz="1200" smtClean="0">
                <a:sym typeface="+mn-ea"/>
              </a:rPr>
              <a:t>Fifth level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706911" y="1700213"/>
            <a:ext cx="6645302" cy="2387600"/>
          </a:xfrm>
        </p:spPr>
        <p:txBody>
          <a:bodyPr anchor="b"/>
          <a:lstStyle>
            <a:lvl1pPr algn="l">
              <a:defRPr sz="6000">
                <a:solidFill>
                  <a:srgbClr val="877969"/>
                </a:solidFill>
              </a:defRPr>
            </a:lvl1pPr>
          </a:lstStyle>
          <a:p>
            <a:r>
              <a:rPr lang="zh-CN" altLang="en-US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706911" y="4099368"/>
            <a:ext cx="6645302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F4747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265C-7EE3-42FB-A0DB-6EEF213E15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205B0-AD67-413D-8CB1-9851EE1363CE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1"/>
          <a:stretch>
            <a:fillRect/>
          </a:stretch>
        </p:blipFill>
        <p:spPr>
          <a:xfrm>
            <a:off x="0" y="464695"/>
            <a:ext cx="617802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6613" y="1170092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rgbClr val="877969"/>
                </a:solidFill>
              </a:defRPr>
            </a:lvl1pPr>
          </a:lstStyle>
          <a:p>
            <a:r>
              <a:rPr lang="zh-CN" altLang="en-US" dirty="0" smtClean="0"/>
              <a:t>Click to edit Master title style</a:t>
            </a:r>
            <a:endParaRPr lang="zh-CN" altLang="en-US" dirty="0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6613" y="4049817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F4747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Click to edit Master text style</a:t>
            </a:r>
            <a:endParaRPr lang="zh-CN" altLang="en-US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265C-7EE3-42FB-A0DB-6EEF213E15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205B0-AD67-413D-8CB1-9851EE1363CE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088062">
            <a:off x="5226404" y="1455578"/>
            <a:ext cx="1457204" cy="15089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77969"/>
                </a:solidFill>
              </a:defRPr>
            </a:lvl1pPr>
          </a:lstStyle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265C-7EE3-42FB-A0DB-6EEF213E15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205B0-AD67-413D-8CB1-9851EE1363C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58"/>
          <a:stretch>
            <a:fillRect/>
          </a:stretch>
        </p:blipFill>
        <p:spPr>
          <a:xfrm>
            <a:off x="-12879" y="0"/>
            <a:ext cx="1208454" cy="19962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265C-7EE3-42FB-A0DB-6EEF213E15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205B0-AD67-413D-8CB1-9851EE1363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B265C-7EE3-42FB-A0DB-6EEF213E15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205B0-AD67-413D-8CB1-9851EE1363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Click to edit Master title style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Click to edit Master text style</a:t>
            </a:r>
            <a:endParaRPr lang="zh-CN" altLang="en-US" smtClean="0"/>
          </a:p>
          <a:p>
            <a:pPr lvl="1"/>
            <a:r>
              <a:rPr lang="zh-CN" altLang="en-US" smtClean="0"/>
              <a:t>Second level</a:t>
            </a:r>
            <a:endParaRPr lang="zh-CN" altLang="en-US" smtClean="0"/>
          </a:p>
          <a:p>
            <a:pPr lvl="2"/>
            <a:r>
              <a:rPr lang="zh-CN" altLang="en-US" smtClean="0"/>
              <a:t>Third level</a:t>
            </a:r>
            <a:endParaRPr lang="zh-CN" altLang="en-US" smtClean="0"/>
          </a:p>
          <a:p>
            <a:pPr lvl="3"/>
            <a:r>
              <a:rPr lang="zh-CN" altLang="en-US" smtClean="0"/>
              <a:t>Fourth level</a:t>
            </a:r>
            <a:endParaRPr lang="zh-CN" altLang="en-US" smtClean="0"/>
          </a:p>
          <a:p>
            <a:pPr lvl="4"/>
            <a:r>
              <a:rPr lang="zh-CN" altLang="en-US" smtClean="0"/>
              <a:t>Fifth level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B265C-7EE3-42FB-A0DB-6EEF213E15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205B0-AD67-413D-8CB1-9851EE1363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4.jpe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4" Type="http://schemas.openxmlformats.org/officeDocument/2006/relationships/slideLayout" Target="../slideLayouts/slideLayout3.xml"/><Relationship Id="rId23" Type="http://schemas.openxmlformats.org/officeDocument/2006/relationships/tags" Target="../tags/tag29.xml"/><Relationship Id="rId22" Type="http://schemas.openxmlformats.org/officeDocument/2006/relationships/tags" Target="../tags/tag28.xml"/><Relationship Id="rId21" Type="http://schemas.openxmlformats.org/officeDocument/2006/relationships/tags" Target="../tags/tag27.xml"/><Relationship Id="rId20" Type="http://schemas.openxmlformats.org/officeDocument/2006/relationships/tags" Target="../tags/tag26.xml"/><Relationship Id="rId2" Type="http://schemas.openxmlformats.org/officeDocument/2006/relationships/tags" Target="../tags/tag8.xml"/><Relationship Id="rId19" Type="http://schemas.openxmlformats.org/officeDocument/2006/relationships/tags" Target="../tags/tag25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552315" y="1700530"/>
            <a:ext cx="7419975" cy="2387600"/>
          </a:xfrm>
        </p:spPr>
        <p:txBody>
          <a:bodyPr/>
          <a:lstStyle/>
          <a:p>
            <a:r>
              <a:rPr lang="ru-RU" altLang="en-US" dirty="0"/>
              <a:t>Финансовый аналитик</a:t>
            </a:r>
            <a:endParaRPr lang="ru-RU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altLang="en-US" sz="1400" dirty="0" err="1"/>
              <a:t>Илели Анна</a:t>
            </a:r>
            <a:endParaRPr lang="ru-RU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6613" y="942762"/>
            <a:ext cx="10515600" cy="2852737"/>
          </a:xfrm>
        </p:spPr>
        <p:txBody>
          <a:bodyPr/>
          <a:lstStyle/>
          <a:p>
            <a:r>
              <a:rPr lang="ru-RU" altLang="en-US" dirty="0"/>
              <a:t>О проекте</a:t>
            </a:r>
            <a:endParaRPr lang="ru-RU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1400" b="1" dirty="0"/>
              <a:t>Финансовый</a:t>
            </a:r>
            <a:r>
              <a:rPr lang="en-US" altLang="ru-RU" sz="1400" b="1" dirty="0"/>
              <a:t> </a:t>
            </a:r>
            <a:r>
              <a:rPr lang="en-US" altLang="en-US" sz="1400" b="1" dirty="0"/>
              <a:t>аналитик</a:t>
            </a:r>
            <a:r>
              <a:rPr lang="en-US" altLang="ru-RU" sz="1400" b="1" dirty="0"/>
              <a:t> </a:t>
            </a:r>
            <a:r>
              <a:rPr lang="en-US" altLang="ru-RU" sz="1400" dirty="0"/>
              <a:t>- </a:t>
            </a:r>
            <a:r>
              <a:rPr lang="en-US" altLang="en-US" sz="1400" dirty="0"/>
              <a:t>приложение</a:t>
            </a:r>
            <a:r>
              <a:rPr lang="en-US" altLang="ru-RU" sz="1400" dirty="0"/>
              <a:t> </a:t>
            </a:r>
            <a:r>
              <a:rPr lang="en-US" altLang="en-US" sz="1400" dirty="0"/>
              <a:t>для</a:t>
            </a:r>
            <a:r>
              <a:rPr lang="en-US" altLang="ru-RU" sz="1400" dirty="0"/>
              <a:t> </a:t>
            </a:r>
            <a:r>
              <a:rPr lang="en-US" altLang="en-US" sz="1400" dirty="0"/>
              <a:t>учета</a:t>
            </a:r>
            <a:r>
              <a:rPr lang="en-US" altLang="ru-RU" sz="1400" dirty="0"/>
              <a:t> </a:t>
            </a:r>
            <a:r>
              <a:rPr lang="en-US" altLang="en-US" sz="1400" dirty="0"/>
              <a:t>личных</a:t>
            </a:r>
            <a:r>
              <a:rPr lang="en-US" altLang="ru-RU" sz="1400" dirty="0"/>
              <a:t> </a:t>
            </a:r>
            <a:r>
              <a:rPr lang="en-US" altLang="en-US" sz="1400" dirty="0"/>
              <a:t>финансов</a:t>
            </a:r>
            <a:endParaRPr lang="en-US" altLang="en-US" sz="1400" dirty="0"/>
          </a:p>
          <a:p>
            <a:r>
              <a:rPr lang="en-US" altLang="ru-RU" sz="1400" dirty="0"/>
              <a:t> </a:t>
            </a:r>
            <a:r>
              <a:rPr lang="en-US" altLang="en-US" sz="1400" b="1" dirty="0"/>
              <a:t>Цель</a:t>
            </a:r>
            <a:r>
              <a:rPr lang="en-US" altLang="ru-RU" sz="1400" dirty="0"/>
              <a:t>: </a:t>
            </a:r>
            <a:r>
              <a:rPr lang="en-US" altLang="en-US" sz="1400" dirty="0"/>
              <a:t>Сделать</a:t>
            </a:r>
            <a:r>
              <a:rPr lang="en-US" altLang="ru-RU" sz="1400" dirty="0"/>
              <a:t> </a:t>
            </a:r>
            <a:r>
              <a:rPr lang="en-US" altLang="en-US" sz="1400" dirty="0"/>
              <a:t>финансовую</a:t>
            </a:r>
            <a:r>
              <a:rPr lang="en-US" altLang="ru-RU" sz="1400" dirty="0"/>
              <a:t> </a:t>
            </a:r>
            <a:r>
              <a:rPr lang="en-US" altLang="en-US" sz="1400" dirty="0"/>
              <a:t>грамотность</a:t>
            </a:r>
            <a:r>
              <a:rPr lang="en-US" altLang="ru-RU" sz="1400" dirty="0"/>
              <a:t> </a:t>
            </a:r>
            <a:r>
              <a:rPr lang="en-US" altLang="en-US" sz="1400" dirty="0"/>
              <a:t>доступной</a:t>
            </a:r>
            <a:endParaRPr lang="en-US" altLang="en-US" sz="1400" dirty="0"/>
          </a:p>
          <a:p>
            <a:r>
              <a:rPr lang="ru-RU" altLang="en-US" sz="1400" b="1" dirty="0"/>
              <a:t>Т</a:t>
            </a:r>
            <a:r>
              <a:rPr lang="en-US" altLang="en-US" sz="1400" b="1" dirty="0"/>
              <a:t>ехнологии</a:t>
            </a:r>
            <a:r>
              <a:rPr lang="en-US" altLang="ru-RU" sz="1400" dirty="0"/>
              <a:t>: Python, SQLite, Matplotlib</a:t>
            </a:r>
            <a:endParaRPr lang="en-US" altLang="ru-RU" sz="1400" dirty="0"/>
          </a:p>
          <a:p>
            <a:endParaRPr lang="en-US" alt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51255" y="365125"/>
            <a:ext cx="10202545" cy="1325880"/>
          </a:xfrm>
        </p:spPr>
        <p:txBody>
          <a:bodyPr/>
          <a:lstStyle/>
          <a:p>
            <a:r>
              <a:rPr lang="ru-RU" altLang="en-US" dirty="0" smtClean="0"/>
              <a:t>Функции</a:t>
            </a:r>
            <a:endParaRPr lang="ru-RU" altLang="en-US" dirty="0" smtClean="0"/>
          </a:p>
        </p:txBody>
      </p:sp>
      <p:sp>
        <p:nvSpPr>
          <p:cNvPr id="3" name="Freeform 55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5057090" y="3482065"/>
            <a:ext cx="349825" cy="352141"/>
          </a:xfrm>
          <a:custGeom>
            <a:avLst/>
            <a:gdLst>
              <a:gd name="T0" fmla="*/ 32 w 64"/>
              <a:gd name="T1" fmla="*/ 0 h 64"/>
              <a:gd name="T2" fmla="*/ 0 w 64"/>
              <a:gd name="T3" fmla="*/ 32 h 64"/>
              <a:gd name="T4" fmla="*/ 32 w 64"/>
              <a:gd name="T5" fmla="*/ 64 h 64"/>
              <a:gd name="T6" fmla="*/ 64 w 64"/>
              <a:gd name="T7" fmla="*/ 32 h 64"/>
              <a:gd name="T8" fmla="*/ 32 w 64"/>
              <a:gd name="T9" fmla="*/ 0 h 64"/>
              <a:gd name="T10" fmla="*/ 28 w 64"/>
              <a:gd name="T11" fmla="*/ 48 h 64"/>
              <a:gd name="T12" fmla="*/ 16 w 64"/>
              <a:gd name="T13" fmla="*/ 36 h 64"/>
              <a:gd name="T14" fmla="*/ 22 w 64"/>
              <a:gd name="T15" fmla="*/ 30 h 64"/>
              <a:gd name="T16" fmla="*/ 28 w 64"/>
              <a:gd name="T17" fmla="*/ 36 h 64"/>
              <a:gd name="T18" fmla="*/ 46 w 64"/>
              <a:gd name="T19" fmla="*/ 16 h 64"/>
              <a:gd name="T20" fmla="*/ 52 w 64"/>
              <a:gd name="T21" fmla="*/ 22 h 64"/>
              <a:gd name="T22" fmla="*/ 28 w 64"/>
              <a:gd name="T23" fmla="*/ 4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4" h="64">
                <a:moveTo>
                  <a:pt x="32" y="0"/>
                </a:moveTo>
                <a:cubicBezTo>
                  <a:pt x="14" y="0"/>
                  <a:pt x="0" y="14"/>
                  <a:pt x="0" y="32"/>
                </a:cubicBezTo>
                <a:cubicBezTo>
                  <a:pt x="0" y="50"/>
                  <a:pt x="14" y="64"/>
                  <a:pt x="32" y="64"/>
                </a:cubicBezTo>
                <a:cubicBezTo>
                  <a:pt x="50" y="64"/>
                  <a:pt x="64" y="50"/>
                  <a:pt x="64" y="32"/>
                </a:cubicBezTo>
                <a:cubicBezTo>
                  <a:pt x="64" y="14"/>
                  <a:pt x="50" y="0"/>
                  <a:pt x="32" y="0"/>
                </a:cubicBezTo>
                <a:close/>
                <a:moveTo>
                  <a:pt x="28" y="48"/>
                </a:moveTo>
                <a:cubicBezTo>
                  <a:pt x="16" y="36"/>
                  <a:pt x="16" y="36"/>
                  <a:pt x="16" y="36"/>
                </a:cubicBezTo>
                <a:cubicBezTo>
                  <a:pt x="22" y="30"/>
                  <a:pt x="22" y="30"/>
                  <a:pt x="22" y="30"/>
                </a:cubicBezTo>
                <a:cubicBezTo>
                  <a:pt x="28" y="36"/>
                  <a:pt x="28" y="36"/>
                  <a:pt x="28" y="36"/>
                </a:cubicBezTo>
                <a:cubicBezTo>
                  <a:pt x="46" y="16"/>
                  <a:pt x="46" y="16"/>
                  <a:pt x="46" y="16"/>
                </a:cubicBezTo>
                <a:cubicBezTo>
                  <a:pt x="52" y="22"/>
                  <a:pt x="52" y="22"/>
                  <a:pt x="52" y="22"/>
                </a:cubicBezTo>
                <a:lnTo>
                  <a:pt x="28" y="48"/>
                </a:lnTo>
                <a:close/>
              </a:path>
            </a:pathLst>
          </a:custGeom>
          <a:solidFill>
            <a:srgbClr val="F4747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603813"/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1519924" y="3396525"/>
            <a:ext cx="3537166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603813"/>
                </a:solidFill>
              </a:rPr>
              <a:t>Учёт операций: доходы и расходы</a:t>
            </a:r>
            <a:endParaRPr lang="ru-RU" sz="1400" dirty="0">
              <a:solidFill>
                <a:srgbClr val="603813"/>
              </a:solidFill>
            </a:endParaRPr>
          </a:p>
        </p:txBody>
      </p:sp>
      <p:sp>
        <p:nvSpPr>
          <p:cNvPr id="6" name="Freeform 55"/>
          <p:cNvSpPr>
            <a:spLocks noEditPoints="1"/>
          </p:cNvSpPr>
          <p:nvPr>
            <p:custDataLst>
              <p:tags r:id="rId3"/>
            </p:custDataLst>
          </p:nvPr>
        </p:nvSpPr>
        <p:spPr bwMode="auto">
          <a:xfrm>
            <a:off x="5057090" y="4268931"/>
            <a:ext cx="349825" cy="352141"/>
          </a:xfrm>
          <a:custGeom>
            <a:avLst/>
            <a:gdLst>
              <a:gd name="T0" fmla="*/ 32 w 64"/>
              <a:gd name="T1" fmla="*/ 0 h 64"/>
              <a:gd name="T2" fmla="*/ 0 w 64"/>
              <a:gd name="T3" fmla="*/ 32 h 64"/>
              <a:gd name="T4" fmla="*/ 32 w 64"/>
              <a:gd name="T5" fmla="*/ 64 h 64"/>
              <a:gd name="T6" fmla="*/ 64 w 64"/>
              <a:gd name="T7" fmla="*/ 32 h 64"/>
              <a:gd name="T8" fmla="*/ 32 w 64"/>
              <a:gd name="T9" fmla="*/ 0 h 64"/>
              <a:gd name="T10" fmla="*/ 28 w 64"/>
              <a:gd name="T11" fmla="*/ 48 h 64"/>
              <a:gd name="T12" fmla="*/ 16 w 64"/>
              <a:gd name="T13" fmla="*/ 36 h 64"/>
              <a:gd name="T14" fmla="*/ 22 w 64"/>
              <a:gd name="T15" fmla="*/ 30 h 64"/>
              <a:gd name="T16" fmla="*/ 28 w 64"/>
              <a:gd name="T17" fmla="*/ 36 h 64"/>
              <a:gd name="T18" fmla="*/ 46 w 64"/>
              <a:gd name="T19" fmla="*/ 16 h 64"/>
              <a:gd name="T20" fmla="*/ 52 w 64"/>
              <a:gd name="T21" fmla="*/ 22 h 64"/>
              <a:gd name="T22" fmla="*/ 28 w 64"/>
              <a:gd name="T23" fmla="*/ 4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4" h="64">
                <a:moveTo>
                  <a:pt x="32" y="0"/>
                </a:moveTo>
                <a:cubicBezTo>
                  <a:pt x="14" y="0"/>
                  <a:pt x="0" y="14"/>
                  <a:pt x="0" y="32"/>
                </a:cubicBezTo>
                <a:cubicBezTo>
                  <a:pt x="0" y="50"/>
                  <a:pt x="14" y="64"/>
                  <a:pt x="32" y="64"/>
                </a:cubicBezTo>
                <a:cubicBezTo>
                  <a:pt x="50" y="64"/>
                  <a:pt x="64" y="50"/>
                  <a:pt x="64" y="32"/>
                </a:cubicBezTo>
                <a:cubicBezTo>
                  <a:pt x="64" y="14"/>
                  <a:pt x="50" y="0"/>
                  <a:pt x="32" y="0"/>
                </a:cubicBezTo>
                <a:close/>
                <a:moveTo>
                  <a:pt x="28" y="48"/>
                </a:moveTo>
                <a:cubicBezTo>
                  <a:pt x="16" y="36"/>
                  <a:pt x="16" y="36"/>
                  <a:pt x="16" y="36"/>
                </a:cubicBezTo>
                <a:cubicBezTo>
                  <a:pt x="22" y="30"/>
                  <a:pt x="22" y="30"/>
                  <a:pt x="22" y="30"/>
                </a:cubicBezTo>
                <a:cubicBezTo>
                  <a:pt x="28" y="36"/>
                  <a:pt x="28" y="36"/>
                  <a:pt x="28" y="36"/>
                </a:cubicBezTo>
                <a:cubicBezTo>
                  <a:pt x="46" y="16"/>
                  <a:pt x="46" y="16"/>
                  <a:pt x="46" y="16"/>
                </a:cubicBezTo>
                <a:cubicBezTo>
                  <a:pt x="52" y="22"/>
                  <a:pt x="52" y="22"/>
                  <a:pt x="52" y="22"/>
                </a:cubicBezTo>
                <a:lnTo>
                  <a:pt x="28" y="48"/>
                </a:lnTo>
                <a:close/>
              </a:path>
            </a:pathLst>
          </a:custGeom>
          <a:solidFill>
            <a:srgbClr val="F4747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603813"/>
              </a:solidFill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1519924" y="4183391"/>
            <a:ext cx="3537166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603813"/>
                </a:solidFill>
              </a:rPr>
              <a:t>Визуализация: выведение графиков</a:t>
            </a:r>
            <a:endParaRPr lang="ru-RU" sz="1400" dirty="0">
              <a:solidFill>
                <a:srgbClr val="603813"/>
              </a:solidFill>
            </a:endParaRPr>
          </a:p>
        </p:txBody>
      </p:sp>
      <p:sp>
        <p:nvSpPr>
          <p:cNvPr id="8" name="Freeform 55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5057090" y="5141337"/>
            <a:ext cx="349825" cy="352141"/>
          </a:xfrm>
          <a:custGeom>
            <a:avLst/>
            <a:gdLst>
              <a:gd name="T0" fmla="*/ 32 w 64"/>
              <a:gd name="T1" fmla="*/ 0 h 64"/>
              <a:gd name="T2" fmla="*/ 0 w 64"/>
              <a:gd name="T3" fmla="*/ 32 h 64"/>
              <a:gd name="T4" fmla="*/ 32 w 64"/>
              <a:gd name="T5" fmla="*/ 64 h 64"/>
              <a:gd name="T6" fmla="*/ 64 w 64"/>
              <a:gd name="T7" fmla="*/ 32 h 64"/>
              <a:gd name="T8" fmla="*/ 32 w 64"/>
              <a:gd name="T9" fmla="*/ 0 h 64"/>
              <a:gd name="T10" fmla="*/ 28 w 64"/>
              <a:gd name="T11" fmla="*/ 48 h 64"/>
              <a:gd name="T12" fmla="*/ 16 w 64"/>
              <a:gd name="T13" fmla="*/ 36 h 64"/>
              <a:gd name="T14" fmla="*/ 22 w 64"/>
              <a:gd name="T15" fmla="*/ 30 h 64"/>
              <a:gd name="T16" fmla="*/ 28 w 64"/>
              <a:gd name="T17" fmla="*/ 36 h 64"/>
              <a:gd name="T18" fmla="*/ 46 w 64"/>
              <a:gd name="T19" fmla="*/ 16 h 64"/>
              <a:gd name="T20" fmla="*/ 52 w 64"/>
              <a:gd name="T21" fmla="*/ 22 h 64"/>
              <a:gd name="T22" fmla="*/ 28 w 64"/>
              <a:gd name="T23" fmla="*/ 48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4" h="64">
                <a:moveTo>
                  <a:pt x="32" y="0"/>
                </a:moveTo>
                <a:cubicBezTo>
                  <a:pt x="14" y="0"/>
                  <a:pt x="0" y="14"/>
                  <a:pt x="0" y="32"/>
                </a:cubicBezTo>
                <a:cubicBezTo>
                  <a:pt x="0" y="50"/>
                  <a:pt x="14" y="64"/>
                  <a:pt x="32" y="64"/>
                </a:cubicBezTo>
                <a:cubicBezTo>
                  <a:pt x="50" y="64"/>
                  <a:pt x="64" y="50"/>
                  <a:pt x="64" y="32"/>
                </a:cubicBezTo>
                <a:cubicBezTo>
                  <a:pt x="64" y="14"/>
                  <a:pt x="50" y="0"/>
                  <a:pt x="32" y="0"/>
                </a:cubicBezTo>
                <a:close/>
                <a:moveTo>
                  <a:pt x="28" y="48"/>
                </a:moveTo>
                <a:cubicBezTo>
                  <a:pt x="16" y="36"/>
                  <a:pt x="16" y="36"/>
                  <a:pt x="16" y="36"/>
                </a:cubicBezTo>
                <a:cubicBezTo>
                  <a:pt x="22" y="30"/>
                  <a:pt x="22" y="30"/>
                  <a:pt x="22" y="30"/>
                </a:cubicBezTo>
                <a:cubicBezTo>
                  <a:pt x="28" y="36"/>
                  <a:pt x="28" y="36"/>
                  <a:pt x="28" y="36"/>
                </a:cubicBezTo>
                <a:cubicBezTo>
                  <a:pt x="46" y="16"/>
                  <a:pt x="46" y="16"/>
                  <a:pt x="46" y="16"/>
                </a:cubicBezTo>
                <a:cubicBezTo>
                  <a:pt x="52" y="22"/>
                  <a:pt x="52" y="22"/>
                  <a:pt x="52" y="22"/>
                </a:cubicBezTo>
                <a:lnTo>
                  <a:pt x="28" y="48"/>
                </a:lnTo>
                <a:close/>
              </a:path>
            </a:pathLst>
          </a:custGeom>
          <a:solidFill>
            <a:srgbClr val="F4747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603813"/>
              </a:solidFill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1519924" y="5055797"/>
            <a:ext cx="3537166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603813"/>
                </a:solidFill>
              </a:rPr>
              <a:t>Аналитика: списки и категории</a:t>
            </a:r>
            <a:endParaRPr lang="ru-RU" sz="1400" dirty="0">
              <a:solidFill>
                <a:srgbClr val="603813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547220" y="3156041"/>
            <a:ext cx="4499212" cy="0"/>
          </a:xfrm>
          <a:prstGeom prst="line">
            <a:avLst/>
          </a:prstGeom>
          <a:ln>
            <a:solidFill>
              <a:srgbClr val="F474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39788" y="2081798"/>
            <a:ext cx="1064101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zh-CN" sz="1400" dirty="0">
                <a:solidFill>
                  <a:srgbClr val="603813"/>
                </a:solidFill>
              </a:rPr>
              <a:t>Сложные приложения пугают людей, поэтому интерфейс интуитивно понятен. Приложения включает в себя самые нужные функции для быстрого пользования.</a:t>
            </a:r>
            <a:endParaRPr lang="ru-RU" altLang="zh-CN" sz="1400" dirty="0">
              <a:solidFill>
                <a:srgbClr val="603813"/>
              </a:solidFill>
            </a:endParaRPr>
          </a:p>
        </p:txBody>
      </p:sp>
      <p:pic>
        <p:nvPicPr>
          <p:cNvPr id="12" name="Изображение 11" descr="1df9d81f182356766e0b6d1bd6d6c6d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9330" y="3208020"/>
            <a:ext cx="4012565" cy="2582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 dirty="0" smtClean="0"/>
              <a:t>Результаты</a:t>
            </a:r>
            <a:endParaRPr lang="ru-RU" altLang="en-US" dirty="0" smtClean="0"/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839788" y="3375293"/>
            <a:ext cx="10512425" cy="108000"/>
            <a:chOff x="839788" y="3375293"/>
            <a:chExt cx="10512425" cy="108000"/>
          </a:xfrm>
        </p:grpSpPr>
        <p:cxnSp>
          <p:nvCxnSpPr>
            <p:cNvPr id="5" name="直接连接符 4"/>
            <p:cNvCxnSpPr/>
            <p:nvPr>
              <p:custDataLst>
                <p:tags r:id="rId2"/>
              </p:custDataLst>
            </p:nvPr>
          </p:nvCxnSpPr>
          <p:spPr>
            <a:xfrm>
              <a:off x="839788" y="3429000"/>
              <a:ext cx="10512425" cy="0"/>
            </a:xfrm>
            <a:prstGeom prst="line">
              <a:avLst/>
            </a:prstGeom>
            <a:ln>
              <a:solidFill>
                <a:srgbClr val="F4747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椭圆 5"/>
            <p:cNvSpPr>
              <a:spLocks noChangeAspect="1"/>
            </p:cNvSpPr>
            <p:nvPr>
              <p:custDataLst>
                <p:tags r:id="rId3"/>
              </p:custDataLst>
            </p:nvPr>
          </p:nvSpPr>
          <p:spPr>
            <a:xfrm>
              <a:off x="1664934" y="3375293"/>
              <a:ext cx="108000" cy="108000"/>
            </a:xfrm>
            <a:prstGeom prst="ellipse">
              <a:avLst/>
            </a:prstGeom>
            <a:solidFill>
              <a:srgbClr val="F474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03813"/>
                </a:solidFill>
              </a:endParaRPr>
            </a:p>
          </p:txBody>
        </p:sp>
        <p:sp>
          <p:nvSpPr>
            <p:cNvPr id="7" name="椭圆 6"/>
            <p:cNvSpPr>
              <a:spLocks noChangeAspect="1"/>
            </p:cNvSpPr>
            <p:nvPr>
              <p:custDataLst>
                <p:tags r:id="rId4"/>
              </p:custDataLst>
            </p:nvPr>
          </p:nvSpPr>
          <p:spPr>
            <a:xfrm>
              <a:off x="3822013" y="3375293"/>
              <a:ext cx="108000" cy="108000"/>
            </a:xfrm>
            <a:prstGeom prst="ellipse">
              <a:avLst/>
            </a:prstGeom>
            <a:solidFill>
              <a:srgbClr val="F474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03813"/>
                </a:solidFill>
              </a:endParaRPr>
            </a:p>
          </p:txBody>
        </p:sp>
        <p:sp>
          <p:nvSpPr>
            <p:cNvPr id="8" name="椭圆 7"/>
            <p:cNvSpPr>
              <a:spLocks noChangeAspect="1"/>
            </p:cNvSpPr>
            <p:nvPr>
              <p:custDataLst>
                <p:tags r:id="rId5"/>
              </p:custDataLst>
            </p:nvPr>
          </p:nvSpPr>
          <p:spPr>
            <a:xfrm>
              <a:off x="5981382" y="3375293"/>
              <a:ext cx="108000" cy="108000"/>
            </a:xfrm>
            <a:prstGeom prst="ellipse">
              <a:avLst/>
            </a:prstGeom>
            <a:solidFill>
              <a:srgbClr val="F474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03813"/>
                </a:solidFill>
              </a:endParaRPr>
            </a:p>
          </p:txBody>
        </p:sp>
        <p:sp>
          <p:nvSpPr>
            <p:cNvPr id="9" name="椭圆 8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8133881" y="3375293"/>
              <a:ext cx="108000" cy="108000"/>
            </a:xfrm>
            <a:prstGeom prst="ellipse">
              <a:avLst/>
            </a:prstGeom>
            <a:solidFill>
              <a:srgbClr val="F474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03813"/>
                </a:solidFill>
              </a:endParaRPr>
            </a:p>
          </p:txBody>
        </p:sp>
        <p:sp>
          <p:nvSpPr>
            <p:cNvPr id="10" name="椭圆 9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10438061" y="3375293"/>
              <a:ext cx="108000" cy="108000"/>
            </a:xfrm>
            <a:prstGeom prst="ellipse">
              <a:avLst/>
            </a:prstGeom>
            <a:solidFill>
              <a:srgbClr val="F4747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03813"/>
                </a:solidFill>
              </a:endParaRPr>
            </a:p>
          </p:txBody>
        </p:sp>
      </p:grpSp>
      <p:sp>
        <p:nvSpPr>
          <p:cNvPr id="11" name="椭圆 10"/>
          <p:cNvSpPr/>
          <p:nvPr>
            <p:custDataLst>
              <p:tags r:id="rId8"/>
            </p:custDataLst>
          </p:nvPr>
        </p:nvSpPr>
        <p:spPr>
          <a:xfrm>
            <a:off x="2411534" y="2971800"/>
            <a:ext cx="914400" cy="914400"/>
          </a:xfrm>
          <a:prstGeom prst="ellipse">
            <a:avLst/>
          </a:prstGeom>
          <a:solidFill>
            <a:srgbClr val="F474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03813"/>
              </a:solidFill>
            </a:endParaRPr>
          </a:p>
        </p:txBody>
      </p:sp>
      <p:sp>
        <p:nvSpPr>
          <p:cNvPr id="12" name="椭圆 11"/>
          <p:cNvSpPr/>
          <p:nvPr>
            <p:custDataLst>
              <p:tags r:id="rId9"/>
            </p:custDataLst>
          </p:nvPr>
        </p:nvSpPr>
        <p:spPr>
          <a:xfrm>
            <a:off x="4568613" y="2971800"/>
            <a:ext cx="914400" cy="914400"/>
          </a:xfrm>
          <a:prstGeom prst="ellipse">
            <a:avLst/>
          </a:prstGeom>
          <a:solidFill>
            <a:srgbClr val="60381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03813"/>
              </a:solidFill>
            </a:endParaRPr>
          </a:p>
        </p:txBody>
      </p:sp>
      <p:sp>
        <p:nvSpPr>
          <p:cNvPr id="13" name="椭圆 12"/>
          <p:cNvSpPr/>
          <p:nvPr>
            <p:custDataLst>
              <p:tags r:id="rId10"/>
            </p:custDataLst>
          </p:nvPr>
        </p:nvSpPr>
        <p:spPr>
          <a:xfrm>
            <a:off x="6725692" y="2971800"/>
            <a:ext cx="914400" cy="914400"/>
          </a:xfrm>
          <a:prstGeom prst="ellipse">
            <a:avLst/>
          </a:prstGeom>
          <a:solidFill>
            <a:srgbClr val="F474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03813"/>
              </a:solidFill>
            </a:endParaRPr>
          </a:p>
        </p:txBody>
      </p:sp>
      <p:sp>
        <p:nvSpPr>
          <p:cNvPr id="14" name="椭圆 13"/>
          <p:cNvSpPr/>
          <p:nvPr>
            <p:custDataLst>
              <p:tags r:id="rId11"/>
            </p:custDataLst>
          </p:nvPr>
        </p:nvSpPr>
        <p:spPr>
          <a:xfrm>
            <a:off x="8882771" y="2971800"/>
            <a:ext cx="914400" cy="914400"/>
          </a:xfrm>
          <a:prstGeom prst="ellipse">
            <a:avLst/>
          </a:prstGeom>
          <a:solidFill>
            <a:srgbClr val="603813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603813"/>
              </a:solidFill>
            </a:endParaRPr>
          </a:p>
        </p:txBody>
      </p:sp>
      <p:sp>
        <p:nvSpPr>
          <p:cNvPr id="15" name="KSO_Shape"/>
          <p:cNvSpPr/>
          <p:nvPr>
            <p:custDataLst>
              <p:tags r:id="rId12"/>
            </p:custDataLst>
          </p:nvPr>
        </p:nvSpPr>
        <p:spPr>
          <a:xfrm>
            <a:off x="6997836" y="3291965"/>
            <a:ext cx="361407" cy="274067"/>
          </a:xfrm>
          <a:custGeom>
            <a:avLst/>
            <a:gdLst>
              <a:gd name="connsiteX0" fmla="*/ 367281 w 529316"/>
              <a:gd name="connsiteY0" fmla="*/ 196274 h 401026"/>
              <a:gd name="connsiteX1" fmla="*/ 355293 w 529316"/>
              <a:gd name="connsiteY1" fmla="*/ 208263 h 401026"/>
              <a:gd name="connsiteX2" fmla="*/ 465090 w 529316"/>
              <a:gd name="connsiteY2" fmla="*/ 318060 h 401026"/>
              <a:gd name="connsiteX3" fmla="*/ 466739 w 529316"/>
              <a:gd name="connsiteY3" fmla="*/ 320716 h 401026"/>
              <a:gd name="connsiteX4" fmla="*/ 491723 w 529316"/>
              <a:gd name="connsiteY4" fmla="*/ 320716 h 401026"/>
              <a:gd name="connsiteX5" fmla="*/ 162035 w 529316"/>
              <a:gd name="connsiteY5" fmla="*/ 196274 h 401026"/>
              <a:gd name="connsiteX6" fmla="*/ 37593 w 529316"/>
              <a:gd name="connsiteY6" fmla="*/ 320716 h 401026"/>
              <a:gd name="connsiteX7" fmla="*/ 62577 w 529316"/>
              <a:gd name="connsiteY7" fmla="*/ 320716 h 401026"/>
              <a:gd name="connsiteX8" fmla="*/ 64225 w 529316"/>
              <a:gd name="connsiteY8" fmla="*/ 318061 h 401026"/>
              <a:gd name="connsiteX9" fmla="*/ 174023 w 529316"/>
              <a:gd name="connsiteY9" fmla="*/ 208263 h 401026"/>
              <a:gd name="connsiteX10" fmla="*/ 46349 w 529316"/>
              <a:gd name="connsiteY10" fmla="*/ 80311 h 401026"/>
              <a:gd name="connsiteX11" fmla="*/ 222791 w 529316"/>
              <a:gd name="connsiteY11" fmla="*/ 256753 h 401026"/>
              <a:gd name="connsiteX12" fmla="*/ 263500 w 529316"/>
              <a:gd name="connsiteY12" fmla="*/ 273616 h 401026"/>
              <a:gd name="connsiteX13" fmla="*/ 264659 w 529316"/>
              <a:gd name="connsiteY13" fmla="*/ 273504 h 401026"/>
              <a:gd name="connsiteX14" fmla="*/ 306525 w 529316"/>
              <a:gd name="connsiteY14" fmla="*/ 256753 h 401026"/>
              <a:gd name="connsiteX15" fmla="*/ 482968 w 529316"/>
              <a:gd name="connsiteY15" fmla="*/ 80311 h 401026"/>
              <a:gd name="connsiteX16" fmla="*/ 458990 w 529316"/>
              <a:gd name="connsiteY16" fmla="*/ 80311 h 401026"/>
              <a:gd name="connsiteX17" fmla="*/ 300904 w 529316"/>
              <a:gd name="connsiteY17" fmla="*/ 238397 h 401026"/>
              <a:gd name="connsiteX18" fmla="*/ 264659 w 529316"/>
              <a:gd name="connsiteY18" fmla="*/ 252899 h 401026"/>
              <a:gd name="connsiteX19" fmla="*/ 263656 w 529316"/>
              <a:gd name="connsiteY19" fmla="*/ 252995 h 401026"/>
              <a:gd name="connsiteX20" fmla="*/ 228412 w 529316"/>
              <a:gd name="connsiteY20" fmla="*/ 238397 h 401026"/>
              <a:gd name="connsiteX21" fmla="*/ 70326 w 529316"/>
              <a:gd name="connsiteY21" fmla="*/ 80311 h 401026"/>
              <a:gd name="connsiteX22" fmla="*/ 92015 w 529316"/>
              <a:gd name="connsiteY22" fmla="*/ 0 h 401026"/>
              <a:gd name="connsiteX23" fmla="*/ 437301 w 529316"/>
              <a:gd name="connsiteY23" fmla="*/ 0 h 401026"/>
              <a:gd name="connsiteX24" fmla="*/ 529316 w 529316"/>
              <a:gd name="connsiteY24" fmla="*/ 92015 h 401026"/>
              <a:gd name="connsiteX25" fmla="*/ 529316 w 529316"/>
              <a:gd name="connsiteY25" fmla="*/ 309011 h 401026"/>
              <a:gd name="connsiteX26" fmla="*/ 437301 w 529316"/>
              <a:gd name="connsiteY26" fmla="*/ 401026 h 401026"/>
              <a:gd name="connsiteX27" fmla="*/ 92015 w 529316"/>
              <a:gd name="connsiteY27" fmla="*/ 401026 h 401026"/>
              <a:gd name="connsiteX28" fmla="*/ 0 w 529316"/>
              <a:gd name="connsiteY28" fmla="*/ 309011 h 401026"/>
              <a:gd name="connsiteX29" fmla="*/ 0 w 529316"/>
              <a:gd name="connsiteY29" fmla="*/ 92015 h 401026"/>
              <a:gd name="connsiteX30" fmla="*/ 92015 w 529316"/>
              <a:gd name="connsiteY30" fmla="*/ 0 h 401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29316" h="401026">
                <a:moveTo>
                  <a:pt x="367281" y="196274"/>
                </a:moveTo>
                <a:lnTo>
                  <a:pt x="355293" y="208263"/>
                </a:lnTo>
                <a:lnTo>
                  <a:pt x="465090" y="318060"/>
                </a:lnTo>
                <a:cubicBezTo>
                  <a:pt x="465822" y="318792"/>
                  <a:pt x="466527" y="319541"/>
                  <a:pt x="466739" y="320716"/>
                </a:cubicBezTo>
                <a:lnTo>
                  <a:pt x="491723" y="320716"/>
                </a:lnTo>
                <a:close/>
                <a:moveTo>
                  <a:pt x="162035" y="196274"/>
                </a:moveTo>
                <a:lnTo>
                  <a:pt x="37593" y="320716"/>
                </a:lnTo>
                <a:lnTo>
                  <a:pt x="62577" y="320716"/>
                </a:lnTo>
                <a:lnTo>
                  <a:pt x="64225" y="318061"/>
                </a:lnTo>
                <a:lnTo>
                  <a:pt x="174023" y="208263"/>
                </a:lnTo>
                <a:close/>
                <a:moveTo>
                  <a:pt x="46349" y="80311"/>
                </a:moveTo>
                <a:lnTo>
                  <a:pt x="222791" y="256753"/>
                </a:lnTo>
                <a:cubicBezTo>
                  <a:pt x="234032" y="267995"/>
                  <a:pt x="248767" y="273616"/>
                  <a:pt x="263500" y="273616"/>
                </a:cubicBezTo>
                <a:cubicBezTo>
                  <a:pt x="263887" y="273616"/>
                  <a:pt x="264274" y="273611"/>
                  <a:pt x="264659" y="273504"/>
                </a:cubicBezTo>
                <a:cubicBezTo>
                  <a:pt x="279774" y="273906"/>
                  <a:pt x="294989" y="268289"/>
                  <a:pt x="306525" y="256753"/>
                </a:cubicBezTo>
                <a:lnTo>
                  <a:pt x="482968" y="80311"/>
                </a:lnTo>
                <a:lnTo>
                  <a:pt x="458990" y="80311"/>
                </a:lnTo>
                <a:lnTo>
                  <a:pt x="300904" y="238397"/>
                </a:lnTo>
                <a:cubicBezTo>
                  <a:pt x="290917" y="248385"/>
                  <a:pt x="277745" y="253247"/>
                  <a:pt x="264659" y="252899"/>
                </a:cubicBezTo>
                <a:cubicBezTo>
                  <a:pt x="264325" y="252991"/>
                  <a:pt x="263990" y="252995"/>
                  <a:pt x="263656" y="252995"/>
                </a:cubicBezTo>
                <a:cubicBezTo>
                  <a:pt x="250900" y="252995"/>
                  <a:pt x="238144" y="248128"/>
                  <a:pt x="228412" y="238397"/>
                </a:cubicBezTo>
                <a:lnTo>
                  <a:pt x="70326" y="80311"/>
                </a:lnTo>
                <a:close/>
                <a:moveTo>
                  <a:pt x="92015" y="0"/>
                </a:moveTo>
                <a:lnTo>
                  <a:pt x="437301" y="0"/>
                </a:lnTo>
                <a:cubicBezTo>
                  <a:pt x="488119" y="0"/>
                  <a:pt x="529316" y="41197"/>
                  <a:pt x="529316" y="92015"/>
                </a:cubicBezTo>
                <a:lnTo>
                  <a:pt x="529316" y="309011"/>
                </a:lnTo>
                <a:cubicBezTo>
                  <a:pt x="529316" y="359829"/>
                  <a:pt x="488119" y="401026"/>
                  <a:pt x="437301" y="401026"/>
                </a:cubicBezTo>
                <a:lnTo>
                  <a:pt x="92015" y="401026"/>
                </a:lnTo>
                <a:cubicBezTo>
                  <a:pt x="41197" y="401026"/>
                  <a:pt x="0" y="359829"/>
                  <a:pt x="0" y="309011"/>
                </a:cubicBezTo>
                <a:lnTo>
                  <a:pt x="0" y="92015"/>
                </a:lnTo>
                <a:cubicBezTo>
                  <a:pt x="0" y="41197"/>
                  <a:pt x="41197" y="0"/>
                  <a:pt x="920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rgbClr val="603813"/>
              </a:solidFill>
            </a:endParaRPr>
          </a:p>
        </p:txBody>
      </p:sp>
      <p:sp>
        <p:nvSpPr>
          <p:cNvPr id="16" name="KSO_Shape"/>
          <p:cNvSpPr/>
          <p:nvPr>
            <p:custDataLst>
              <p:tags r:id="rId13"/>
            </p:custDataLst>
          </p:nvPr>
        </p:nvSpPr>
        <p:spPr>
          <a:xfrm>
            <a:off x="4836844" y="3296564"/>
            <a:ext cx="382330" cy="275915"/>
          </a:xfrm>
          <a:custGeom>
            <a:avLst/>
            <a:gdLst>
              <a:gd name="connsiteX0" fmla="*/ 880442 w 1224136"/>
              <a:gd name="connsiteY0" fmla="*/ 361080 h 883138"/>
              <a:gd name="connsiteX1" fmla="*/ 1006456 w 1224136"/>
              <a:gd name="connsiteY1" fmla="*/ 487094 h 883138"/>
              <a:gd name="connsiteX2" fmla="*/ 880442 w 1224136"/>
              <a:gd name="connsiteY2" fmla="*/ 613108 h 883138"/>
              <a:gd name="connsiteX3" fmla="*/ 754428 w 1224136"/>
              <a:gd name="connsiteY3" fmla="*/ 487094 h 883138"/>
              <a:gd name="connsiteX4" fmla="*/ 880442 w 1224136"/>
              <a:gd name="connsiteY4" fmla="*/ 361080 h 883138"/>
              <a:gd name="connsiteX5" fmla="*/ 880442 w 1224136"/>
              <a:gd name="connsiteY5" fmla="*/ 235066 h 883138"/>
              <a:gd name="connsiteX6" fmla="*/ 628414 w 1224136"/>
              <a:gd name="connsiteY6" fmla="*/ 487094 h 883138"/>
              <a:gd name="connsiteX7" fmla="*/ 880442 w 1224136"/>
              <a:gd name="connsiteY7" fmla="*/ 739122 h 883138"/>
              <a:gd name="connsiteX8" fmla="*/ 1132470 w 1224136"/>
              <a:gd name="connsiteY8" fmla="*/ 487094 h 883138"/>
              <a:gd name="connsiteX9" fmla="*/ 880442 w 1224136"/>
              <a:gd name="connsiteY9" fmla="*/ 235066 h 883138"/>
              <a:gd name="connsiteX10" fmla="*/ 132017 w 1224136"/>
              <a:gd name="connsiteY10" fmla="*/ 91050 h 883138"/>
              <a:gd name="connsiteX11" fmla="*/ 1092119 w 1224136"/>
              <a:gd name="connsiteY11" fmla="*/ 91050 h 883138"/>
              <a:gd name="connsiteX12" fmla="*/ 1224136 w 1224136"/>
              <a:gd name="connsiteY12" fmla="*/ 223067 h 883138"/>
              <a:gd name="connsiteX13" fmla="*/ 1224136 w 1224136"/>
              <a:gd name="connsiteY13" fmla="*/ 751121 h 883138"/>
              <a:gd name="connsiteX14" fmla="*/ 1092119 w 1224136"/>
              <a:gd name="connsiteY14" fmla="*/ 883138 h 883138"/>
              <a:gd name="connsiteX15" fmla="*/ 132017 w 1224136"/>
              <a:gd name="connsiteY15" fmla="*/ 883138 h 883138"/>
              <a:gd name="connsiteX16" fmla="*/ 0 w 1224136"/>
              <a:gd name="connsiteY16" fmla="*/ 751121 h 883138"/>
              <a:gd name="connsiteX17" fmla="*/ 0 w 1224136"/>
              <a:gd name="connsiteY17" fmla="*/ 223067 h 883138"/>
              <a:gd name="connsiteX18" fmla="*/ 132017 w 1224136"/>
              <a:gd name="connsiteY18" fmla="*/ 91050 h 883138"/>
              <a:gd name="connsiteX19" fmla="*/ 156016 w 1224136"/>
              <a:gd name="connsiteY19" fmla="*/ 0 h 883138"/>
              <a:gd name="connsiteX20" fmla="*/ 348040 w 1224136"/>
              <a:gd name="connsiteY20" fmla="*/ 0 h 883138"/>
              <a:gd name="connsiteX21" fmla="*/ 360040 w 1224136"/>
              <a:gd name="connsiteY21" fmla="*/ 12000 h 883138"/>
              <a:gd name="connsiteX22" fmla="*/ 360040 w 1224136"/>
              <a:gd name="connsiteY22" fmla="*/ 60000 h 883138"/>
              <a:gd name="connsiteX23" fmla="*/ 348040 w 1224136"/>
              <a:gd name="connsiteY23" fmla="*/ 72000 h 883138"/>
              <a:gd name="connsiteX24" fmla="*/ 156016 w 1224136"/>
              <a:gd name="connsiteY24" fmla="*/ 72000 h 883138"/>
              <a:gd name="connsiteX25" fmla="*/ 144016 w 1224136"/>
              <a:gd name="connsiteY25" fmla="*/ 60000 h 883138"/>
              <a:gd name="connsiteX26" fmla="*/ 144016 w 1224136"/>
              <a:gd name="connsiteY26" fmla="*/ 12000 h 883138"/>
              <a:gd name="connsiteX27" fmla="*/ 156016 w 1224136"/>
              <a:gd name="connsiteY27" fmla="*/ 0 h 883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224136" h="883138">
                <a:moveTo>
                  <a:pt x="880442" y="361080"/>
                </a:moveTo>
                <a:cubicBezTo>
                  <a:pt x="950038" y="361080"/>
                  <a:pt x="1006456" y="417498"/>
                  <a:pt x="1006456" y="487094"/>
                </a:cubicBezTo>
                <a:cubicBezTo>
                  <a:pt x="1006456" y="556690"/>
                  <a:pt x="950038" y="613108"/>
                  <a:pt x="880442" y="613108"/>
                </a:cubicBezTo>
                <a:cubicBezTo>
                  <a:pt x="810846" y="613108"/>
                  <a:pt x="754428" y="556690"/>
                  <a:pt x="754428" y="487094"/>
                </a:cubicBezTo>
                <a:cubicBezTo>
                  <a:pt x="754428" y="417498"/>
                  <a:pt x="810846" y="361080"/>
                  <a:pt x="880442" y="361080"/>
                </a:cubicBezTo>
                <a:close/>
                <a:moveTo>
                  <a:pt x="880442" y="235066"/>
                </a:moveTo>
                <a:cubicBezTo>
                  <a:pt x="741251" y="235066"/>
                  <a:pt x="628414" y="347903"/>
                  <a:pt x="628414" y="487094"/>
                </a:cubicBezTo>
                <a:cubicBezTo>
                  <a:pt x="628414" y="626285"/>
                  <a:pt x="741251" y="739122"/>
                  <a:pt x="880442" y="739122"/>
                </a:cubicBezTo>
                <a:cubicBezTo>
                  <a:pt x="1019633" y="739122"/>
                  <a:pt x="1132470" y="626285"/>
                  <a:pt x="1132470" y="487094"/>
                </a:cubicBezTo>
                <a:cubicBezTo>
                  <a:pt x="1132470" y="347903"/>
                  <a:pt x="1019633" y="235066"/>
                  <a:pt x="880442" y="235066"/>
                </a:cubicBezTo>
                <a:close/>
                <a:moveTo>
                  <a:pt x="132017" y="91050"/>
                </a:moveTo>
                <a:lnTo>
                  <a:pt x="1092119" y="91050"/>
                </a:lnTo>
                <a:cubicBezTo>
                  <a:pt x="1165030" y="91050"/>
                  <a:pt x="1224136" y="150156"/>
                  <a:pt x="1224136" y="223067"/>
                </a:cubicBezTo>
                <a:lnTo>
                  <a:pt x="1224136" y="751121"/>
                </a:lnTo>
                <a:cubicBezTo>
                  <a:pt x="1224136" y="824032"/>
                  <a:pt x="1165030" y="883138"/>
                  <a:pt x="1092119" y="883138"/>
                </a:cubicBezTo>
                <a:lnTo>
                  <a:pt x="132017" y="883138"/>
                </a:lnTo>
                <a:cubicBezTo>
                  <a:pt x="59106" y="883138"/>
                  <a:pt x="0" y="824032"/>
                  <a:pt x="0" y="751121"/>
                </a:cubicBezTo>
                <a:lnTo>
                  <a:pt x="0" y="223067"/>
                </a:lnTo>
                <a:cubicBezTo>
                  <a:pt x="0" y="150156"/>
                  <a:pt x="59106" y="91050"/>
                  <a:pt x="132017" y="91050"/>
                </a:cubicBezTo>
                <a:close/>
                <a:moveTo>
                  <a:pt x="156016" y="0"/>
                </a:moveTo>
                <a:lnTo>
                  <a:pt x="348040" y="0"/>
                </a:lnTo>
                <a:cubicBezTo>
                  <a:pt x="354667" y="0"/>
                  <a:pt x="360040" y="5373"/>
                  <a:pt x="360040" y="12000"/>
                </a:cubicBezTo>
                <a:lnTo>
                  <a:pt x="360040" y="60000"/>
                </a:lnTo>
                <a:cubicBezTo>
                  <a:pt x="360040" y="66627"/>
                  <a:pt x="354667" y="72000"/>
                  <a:pt x="348040" y="72000"/>
                </a:cubicBezTo>
                <a:lnTo>
                  <a:pt x="156016" y="72000"/>
                </a:lnTo>
                <a:cubicBezTo>
                  <a:pt x="149389" y="72000"/>
                  <a:pt x="144016" y="66627"/>
                  <a:pt x="144016" y="60000"/>
                </a:cubicBezTo>
                <a:lnTo>
                  <a:pt x="144016" y="12000"/>
                </a:lnTo>
                <a:cubicBezTo>
                  <a:pt x="144016" y="5373"/>
                  <a:pt x="149389" y="0"/>
                  <a:pt x="15601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Freeform 9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9157404" y="3246431"/>
            <a:ext cx="365133" cy="365133"/>
          </a:xfrm>
          <a:custGeom>
            <a:avLst/>
            <a:gdLst>
              <a:gd name="T0" fmla="*/ 1973 w 2073"/>
              <a:gd name="T1" fmla="*/ 643 h 2073"/>
              <a:gd name="T2" fmla="*/ 1883 w 2073"/>
              <a:gd name="T3" fmla="*/ 734 h 2073"/>
              <a:gd name="T4" fmla="*/ 1339 w 2073"/>
              <a:gd name="T5" fmla="*/ 191 h 2073"/>
              <a:gd name="T6" fmla="*/ 1430 w 2073"/>
              <a:gd name="T7" fmla="*/ 100 h 2073"/>
              <a:gd name="T8" fmla="*/ 1792 w 2073"/>
              <a:gd name="T9" fmla="*/ 100 h 2073"/>
              <a:gd name="T10" fmla="*/ 1973 w 2073"/>
              <a:gd name="T11" fmla="*/ 281 h 2073"/>
              <a:gd name="T12" fmla="*/ 1973 w 2073"/>
              <a:gd name="T13" fmla="*/ 643 h 2073"/>
              <a:gd name="T14" fmla="*/ 706 w 2073"/>
              <a:gd name="T15" fmla="*/ 1729 h 2073"/>
              <a:gd name="T16" fmla="*/ 706 w 2073"/>
              <a:gd name="T17" fmla="*/ 1820 h 2073"/>
              <a:gd name="T18" fmla="*/ 796 w 2073"/>
              <a:gd name="T19" fmla="*/ 1820 h 2073"/>
              <a:gd name="T20" fmla="*/ 1792 w 2073"/>
              <a:gd name="T21" fmla="*/ 824 h 2073"/>
              <a:gd name="T22" fmla="*/ 1701 w 2073"/>
              <a:gd name="T23" fmla="*/ 734 h 2073"/>
              <a:gd name="T24" fmla="*/ 706 w 2073"/>
              <a:gd name="T25" fmla="*/ 1729 h 2073"/>
              <a:gd name="T26" fmla="*/ 253 w 2073"/>
              <a:gd name="T27" fmla="*/ 1277 h 2073"/>
              <a:gd name="T28" fmla="*/ 253 w 2073"/>
              <a:gd name="T29" fmla="*/ 1367 h 2073"/>
              <a:gd name="T30" fmla="*/ 344 w 2073"/>
              <a:gd name="T31" fmla="*/ 1367 h 2073"/>
              <a:gd name="T32" fmla="*/ 1339 w 2073"/>
              <a:gd name="T33" fmla="*/ 372 h 2073"/>
              <a:gd name="T34" fmla="*/ 1249 w 2073"/>
              <a:gd name="T35" fmla="*/ 281 h 2073"/>
              <a:gd name="T36" fmla="*/ 253 w 2073"/>
              <a:gd name="T37" fmla="*/ 1277 h 2073"/>
              <a:gd name="T38" fmla="*/ 1430 w 2073"/>
              <a:gd name="T39" fmla="*/ 462 h 2073"/>
              <a:gd name="T40" fmla="*/ 434 w 2073"/>
              <a:gd name="T41" fmla="*/ 1458 h 2073"/>
              <a:gd name="T42" fmla="*/ 434 w 2073"/>
              <a:gd name="T43" fmla="*/ 1639 h 2073"/>
              <a:gd name="T44" fmla="*/ 615 w 2073"/>
              <a:gd name="T45" fmla="*/ 1638 h 2073"/>
              <a:gd name="T46" fmla="*/ 1611 w 2073"/>
              <a:gd name="T47" fmla="*/ 643 h 2073"/>
              <a:gd name="T48" fmla="*/ 1430 w 2073"/>
              <a:gd name="T49" fmla="*/ 462 h 2073"/>
              <a:gd name="T50" fmla="*/ 615 w 2073"/>
              <a:gd name="T51" fmla="*/ 1910 h 2073"/>
              <a:gd name="T52" fmla="*/ 564 w 2073"/>
              <a:gd name="T53" fmla="*/ 1800 h 2073"/>
              <a:gd name="T54" fmla="*/ 525 w 2073"/>
              <a:gd name="T55" fmla="*/ 1804 h 2073"/>
              <a:gd name="T56" fmla="*/ 344 w 2073"/>
              <a:gd name="T57" fmla="*/ 1729 h 2073"/>
              <a:gd name="T58" fmla="*/ 269 w 2073"/>
              <a:gd name="T59" fmla="*/ 1548 h 2073"/>
              <a:gd name="T60" fmla="*/ 272 w 2073"/>
              <a:gd name="T61" fmla="*/ 1511 h 2073"/>
              <a:gd name="T62" fmla="*/ 163 w 2073"/>
              <a:gd name="T63" fmla="*/ 1458 h 2073"/>
              <a:gd name="T64" fmla="*/ 156 w 2073"/>
              <a:gd name="T65" fmla="*/ 1448 h 2073"/>
              <a:gd name="T66" fmla="*/ 0 w 2073"/>
              <a:gd name="T67" fmla="*/ 2073 h 2073"/>
              <a:gd name="T68" fmla="*/ 624 w 2073"/>
              <a:gd name="T69" fmla="*/ 1917 h 2073"/>
              <a:gd name="T70" fmla="*/ 615 w 2073"/>
              <a:gd name="T71" fmla="*/ 1910 h 20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073" h="2073">
                <a:moveTo>
                  <a:pt x="1973" y="643"/>
                </a:moveTo>
                <a:cubicBezTo>
                  <a:pt x="1883" y="734"/>
                  <a:pt x="1883" y="734"/>
                  <a:pt x="1883" y="734"/>
                </a:cubicBezTo>
                <a:cubicBezTo>
                  <a:pt x="1339" y="191"/>
                  <a:pt x="1339" y="191"/>
                  <a:pt x="1339" y="191"/>
                </a:cubicBezTo>
                <a:cubicBezTo>
                  <a:pt x="1430" y="100"/>
                  <a:pt x="1430" y="100"/>
                  <a:pt x="1430" y="100"/>
                </a:cubicBezTo>
                <a:cubicBezTo>
                  <a:pt x="1530" y="0"/>
                  <a:pt x="1692" y="0"/>
                  <a:pt x="1792" y="100"/>
                </a:cubicBezTo>
                <a:cubicBezTo>
                  <a:pt x="1973" y="281"/>
                  <a:pt x="1973" y="281"/>
                  <a:pt x="1973" y="281"/>
                </a:cubicBezTo>
                <a:cubicBezTo>
                  <a:pt x="2073" y="381"/>
                  <a:pt x="2073" y="543"/>
                  <a:pt x="1973" y="643"/>
                </a:cubicBezTo>
                <a:close/>
                <a:moveTo>
                  <a:pt x="706" y="1729"/>
                </a:moveTo>
                <a:cubicBezTo>
                  <a:pt x="681" y="1754"/>
                  <a:pt x="681" y="1795"/>
                  <a:pt x="706" y="1820"/>
                </a:cubicBezTo>
                <a:cubicBezTo>
                  <a:pt x="731" y="1845"/>
                  <a:pt x="771" y="1845"/>
                  <a:pt x="796" y="1820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01" y="734"/>
                  <a:pt x="1701" y="734"/>
                  <a:pt x="1701" y="734"/>
                </a:cubicBezTo>
                <a:lnTo>
                  <a:pt x="706" y="1729"/>
                </a:lnTo>
                <a:close/>
                <a:moveTo>
                  <a:pt x="253" y="1277"/>
                </a:moveTo>
                <a:cubicBezTo>
                  <a:pt x="228" y="1302"/>
                  <a:pt x="228" y="1342"/>
                  <a:pt x="253" y="1367"/>
                </a:cubicBezTo>
                <a:cubicBezTo>
                  <a:pt x="278" y="1392"/>
                  <a:pt x="319" y="1392"/>
                  <a:pt x="344" y="1367"/>
                </a:cubicBezTo>
                <a:cubicBezTo>
                  <a:pt x="1339" y="372"/>
                  <a:pt x="1339" y="372"/>
                  <a:pt x="1339" y="372"/>
                </a:cubicBezTo>
                <a:cubicBezTo>
                  <a:pt x="1249" y="281"/>
                  <a:pt x="1249" y="281"/>
                  <a:pt x="1249" y="281"/>
                </a:cubicBezTo>
                <a:lnTo>
                  <a:pt x="253" y="1277"/>
                </a:lnTo>
                <a:close/>
                <a:moveTo>
                  <a:pt x="1430" y="462"/>
                </a:moveTo>
                <a:cubicBezTo>
                  <a:pt x="434" y="1458"/>
                  <a:pt x="434" y="1458"/>
                  <a:pt x="434" y="1458"/>
                </a:cubicBezTo>
                <a:cubicBezTo>
                  <a:pt x="384" y="1507"/>
                  <a:pt x="384" y="1589"/>
                  <a:pt x="434" y="1639"/>
                </a:cubicBezTo>
                <a:cubicBezTo>
                  <a:pt x="484" y="1689"/>
                  <a:pt x="565" y="1689"/>
                  <a:pt x="615" y="1638"/>
                </a:cubicBezTo>
                <a:cubicBezTo>
                  <a:pt x="1611" y="643"/>
                  <a:pt x="1611" y="643"/>
                  <a:pt x="1611" y="643"/>
                </a:cubicBezTo>
                <a:lnTo>
                  <a:pt x="1430" y="462"/>
                </a:lnTo>
                <a:close/>
                <a:moveTo>
                  <a:pt x="615" y="1910"/>
                </a:moveTo>
                <a:cubicBezTo>
                  <a:pt x="584" y="1879"/>
                  <a:pt x="570" y="1840"/>
                  <a:pt x="564" y="1800"/>
                </a:cubicBezTo>
                <a:cubicBezTo>
                  <a:pt x="551" y="1802"/>
                  <a:pt x="538" y="1804"/>
                  <a:pt x="525" y="1804"/>
                </a:cubicBezTo>
                <a:cubicBezTo>
                  <a:pt x="456" y="1804"/>
                  <a:pt x="392" y="1777"/>
                  <a:pt x="344" y="1729"/>
                </a:cubicBezTo>
                <a:cubicBezTo>
                  <a:pt x="295" y="1681"/>
                  <a:pt x="269" y="1617"/>
                  <a:pt x="269" y="1548"/>
                </a:cubicBezTo>
                <a:cubicBezTo>
                  <a:pt x="269" y="1536"/>
                  <a:pt x="271" y="1524"/>
                  <a:pt x="272" y="1511"/>
                </a:cubicBezTo>
                <a:cubicBezTo>
                  <a:pt x="231" y="1506"/>
                  <a:pt x="193" y="1488"/>
                  <a:pt x="163" y="1458"/>
                </a:cubicBezTo>
                <a:cubicBezTo>
                  <a:pt x="160" y="1455"/>
                  <a:pt x="159" y="1451"/>
                  <a:pt x="156" y="1448"/>
                </a:cubicBezTo>
                <a:cubicBezTo>
                  <a:pt x="0" y="2073"/>
                  <a:pt x="0" y="2073"/>
                  <a:pt x="0" y="2073"/>
                </a:cubicBezTo>
                <a:cubicBezTo>
                  <a:pt x="624" y="1917"/>
                  <a:pt x="624" y="1917"/>
                  <a:pt x="624" y="1917"/>
                </a:cubicBezTo>
                <a:cubicBezTo>
                  <a:pt x="621" y="1914"/>
                  <a:pt x="618" y="1912"/>
                  <a:pt x="615" y="191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KSO_Shape"/>
          <p:cNvSpPr/>
          <p:nvPr>
            <p:custDataLst>
              <p:tags r:id="rId15"/>
            </p:custDataLst>
          </p:nvPr>
        </p:nvSpPr>
        <p:spPr>
          <a:xfrm>
            <a:off x="2658674" y="3280353"/>
            <a:ext cx="396391" cy="297293"/>
          </a:xfrm>
          <a:custGeom>
            <a:avLst/>
            <a:gdLst>
              <a:gd name="connsiteX0" fmla="*/ 577329 w 833225"/>
              <a:gd name="connsiteY0" fmla="*/ 241699 h 624687"/>
              <a:gd name="connsiteX1" fmla="*/ 541325 w 833225"/>
              <a:gd name="connsiteY1" fmla="*/ 277703 h 624687"/>
              <a:gd name="connsiteX2" fmla="*/ 577329 w 833225"/>
              <a:gd name="connsiteY2" fmla="*/ 313707 h 624687"/>
              <a:gd name="connsiteX3" fmla="*/ 613333 w 833225"/>
              <a:gd name="connsiteY3" fmla="*/ 277703 h 624687"/>
              <a:gd name="connsiteX4" fmla="*/ 577329 w 833225"/>
              <a:gd name="connsiteY4" fmla="*/ 241699 h 624687"/>
              <a:gd name="connsiteX5" fmla="*/ 424929 w 833225"/>
              <a:gd name="connsiteY5" fmla="*/ 241699 h 624687"/>
              <a:gd name="connsiteX6" fmla="*/ 388925 w 833225"/>
              <a:gd name="connsiteY6" fmla="*/ 277703 h 624687"/>
              <a:gd name="connsiteX7" fmla="*/ 424929 w 833225"/>
              <a:gd name="connsiteY7" fmla="*/ 313707 h 624687"/>
              <a:gd name="connsiteX8" fmla="*/ 460933 w 833225"/>
              <a:gd name="connsiteY8" fmla="*/ 277703 h 624687"/>
              <a:gd name="connsiteX9" fmla="*/ 424929 w 833225"/>
              <a:gd name="connsiteY9" fmla="*/ 241699 h 624687"/>
              <a:gd name="connsiteX10" fmla="*/ 272529 w 833225"/>
              <a:gd name="connsiteY10" fmla="*/ 241699 h 624687"/>
              <a:gd name="connsiteX11" fmla="*/ 236525 w 833225"/>
              <a:gd name="connsiteY11" fmla="*/ 277703 h 624687"/>
              <a:gd name="connsiteX12" fmla="*/ 272529 w 833225"/>
              <a:gd name="connsiteY12" fmla="*/ 313707 h 624687"/>
              <a:gd name="connsiteX13" fmla="*/ 308533 w 833225"/>
              <a:gd name="connsiteY13" fmla="*/ 277703 h 624687"/>
              <a:gd name="connsiteX14" fmla="*/ 272529 w 833225"/>
              <a:gd name="connsiteY14" fmla="*/ 241699 h 624687"/>
              <a:gd name="connsiteX15" fmla="*/ 429066 w 833225"/>
              <a:gd name="connsiteY15" fmla="*/ 124 h 624687"/>
              <a:gd name="connsiteX16" fmla="*/ 543580 w 833225"/>
              <a:gd name="connsiteY16" fmla="*/ 13237 h 624687"/>
              <a:gd name="connsiteX17" fmla="*/ 789350 w 833225"/>
              <a:gd name="connsiteY17" fmla="*/ 401436 h 624687"/>
              <a:gd name="connsiteX18" fmla="*/ 362652 w 833225"/>
              <a:gd name="connsiteY18" fmla="*/ 552944 h 624687"/>
              <a:gd name="connsiteX19" fmla="*/ 243007 w 833225"/>
              <a:gd name="connsiteY19" fmla="*/ 624687 h 624687"/>
              <a:gd name="connsiteX20" fmla="*/ 211865 w 833225"/>
              <a:gd name="connsiteY20" fmla="*/ 519440 h 624687"/>
              <a:gd name="connsiteX21" fmla="*/ 117966 w 833225"/>
              <a:gd name="connsiteY21" fmla="*/ 84077 h 624687"/>
              <a:gd name="connsiteX22" fmla="*/ 429066 w 833225"/>
              <a:gd name="connsiteY22" fmla="*/ 124 h 624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33225" h="624687">
                <a:moveTo>
                  <a:pt x="577329" y="241699"/>
                </a:moveTo>
                <a:cubicBezTo>
                  <a:pt x="557445" y="241699"/>
                  <a:pt x="541325" y="257819"/>
                  <a:pt x="541325" y="277703"/>
                </a:cubicBezTo>
                <a:cubicBezTo>
                  <a:pt x="541325" y="297587"/>
                  <a:pt x="557445" y="313707"/>
                  <a:pt x="577329" y="313707"/>
                </a:cubicBezTo>
                <a:cubicBezTo>
                  <a:pt x="597213" y="313707"/>
                  <a:pt x="613333" y="297587"/>
                  <a:pt x="613333" y="277703"/>
                </a:cubicBezTo>
                <a:cubicBezTo>
                  <a:pt x="613333" y="257819"/>
                  <a:pt x="597213" y="241699"/>
                  <a:pt x="577329" y="241699"/>
                </a:cubicBezTo>
                <a:close/>
                <a:moveTo>
                  <a:pt x="424929" y="241699"/>
                </a:moveTo>
                <a:cubicBezTo>
                  <a:pt x="405045" y="241699"/>
                  <a:pt x="388925" y="257819"/>
                  <a:pt x="388925" y="277703"/>
                </a:cubicBezTo>
                <a:cubicBezTo>
                  <a:pt x="388925" y="297587"/>
                  <a:pt x="405045" y="313707"/>
                  <a:pt x="424929" y="313707"/>
                </a:cubicBezTo>
                <a:cubicBezTo>
                  <a:pt x="444813" y="313707"/>
                  <a:pt x="460933" y="297587"/>
                  <a:pt x="460933" y="277703"/>
                </a:cubicBezTo>
                <a:cubicBezTo>
                  <a:pt x="460933" y="257819"/>
                  <a:pt x="444813" y="241699"/>
                  <a:pt x="424929" y="241699"/>
                </a:cubicBezTo>
                <a:close/>
                <a:moveTo>
                  <a:pt x="272529" y="241699"/>
                </a:moveTo>
                <a:cubicBezTo>
                  <a:pt x="252645" y="241699"/>
                  <a:pt x="236525" y="257819"/>
                  <a:pt x="236525" y="277703"/>
                </a:cubicBezTo>
                <a:cubicBezTo>
                  <a:pt x="236525" y="297587"/>
                  <a:pt x="252645" y="313707"/>
                  <a:pt x="272529" y="313707"/>
                </a:cubicBezTo>
                <a:cubicBezTo>
                  <a:pt x="292413" y="313707"/>
                  <a:pt x="308533" y="297587"/>
                  <a:pt x="308533" y="277703"/>
                </a:cubicBezTo>
                <a:cubicBezTo>
                  <a:pt x="308533" y="257819"/>
                  <a:pt x="292413" y="241699"/>
                  <a:pt x="272529" y="241699"/>
                </a:cubicBezTo>
                <a:close/>
                <a:moveTo>
                  <a:pt x="429066" y="124"/>
                </a:moveTo>
                <a:cubicBezTo>
                  <a:pt x="467414" y="891"/>
                  <a:pt x="505944" y="5202"/>
                  <a:pt x="543580" y="13237"/>
                </a:cubicBezTo>
                <a:cubicBezTo>
                  <a:pt x="786614" y="65121"/>
                  <a:pt x="903137" y="249172"/>
                  <a:pt x="789350" y="401436"/>
                </a:cubicBezTo>
                <a:cubicBezTo>
                  <a:pt x="710142" y="507428"/>
                  <a:pt x="538801" y="568267"/>
                  <a:pt x="362652" y="552944"/>
                </a:cubicBezTo>
                <a:lnTo>
                  <a:pt x="243007" y="624687"/>
                </a:lnTo>
                <a:lnTo>
                  <a:pt x="211865" y="519440"/>
                </a:lnTo>
                <a:cubicBezTo>
                  <a:pt x="-26035" y="429957"/>
                  <a:pt x="-72481" y="214611"/>
                  <a:pt x="117966" y="84077"/>
                </a:cubicBezTo>
                <a:cubicBezTo>
                  <a:pt x="200623" y="27423"/>
                  <a:pt x="314022" y="-2176"/>
                  <a:pt x="429066" y="12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rgbClr val="603813"/>
              </a:solidFill>
            </a:endParaRPr>
          </a:p>
        </p:txBody>
      </p:sp>
      <p:sp>
        <p:nvSpPr>
          <p:cNvPr id="20" name="矩形 19"/>
          <p:cNvSpPr/>
          <p:nvPr>
            <p:custDataLst>
              <p:tags r:id="rId16"/>
            </p:custDataLst>
          </p:nvPr>
        </p:nvSpPr>
        <p:spPr>
          <a:xfrm>
            <a:off x="1873106" y="4534670"/>
            <a:ext cx="2001322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 smtClean="0">
                <a:solidFill>
                  <a:srgbClr val="603813"/>
                </a:solidFill>
              </a:rPr>
              <a:t> </a:t>
            </a:r>
            <a:endParaRPr lang="zh-CN" altLang="en-US" sz="1400" dirty="0">
              <a:solidFill>
                <a:srgbClr val="603813"/>
              </a:solidFill>
            </a:endParaRPr>
          </a:p>
        </p:txBody>
      </p:sp>
      <p:sp>
        <p:nvSpPr>
          <p:cNvPr id="21" name="矩形 20"/>
          <p:cNvSpPr/>
          <p:nvPr>
            <p:custDataLst>
              <p:tags r:id="rId17"/>
            </p:custDataLst>
          </p:nvPr>
        </p:nvSpPr>
        <p:spPr>
          <a:xfrm>
            <a:off x="1810003" y="4125806"/>
            <a:ext cx="2012315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en-US" sz="1600" dirty="0">
                <a:solidFill>
                  <a:srgbClr val="603813"/>
                </a:solidFill>
                <a:latin typeface="Calibri Light" panose="020F0302020204030204"/>
              </a:rPr>
              <a:t>Рабочее приложение</a:t>
            </a:r>
            <a:endParaRPr lang="ru-RU" altLang="en-US" sz="1600" dirty="0">
              <a:solidFill>
                <a:srgbClr val="603813"/>
              </a:solidFill>
              <a:latin typeface="Calibri Light" panose="020F0302020204030204"/>
            </a:endParaRPr>
          </a:p>
        </p:txBody>
      </p:sp>
      <p:sp>
        <p:nvSpPr>
          <p:cNvPr id="22" name="矩形 21"/>
          <p:cNvSpPr/>
          <p:nvPr>
            <p:custDataLst>
              <p:tags r:id="rId18"/>
            </p:custDataLst>
          </p:nvPr>
        </p:nvSpPr>
        <p:spPr>
          <a:xfrm>
            <a:off x="4049980" y="4534670"/>
            <a:ext cx="2001322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 smtClean="0">
                <a:solidFill>
                  <a:srgbClr val="603813"/>
                </a:solidFill>
              </a:rPr>
              <a:t> </a:t>
            </a:r>
            <a:endParaRPr lang="zh-CN" altLang="en-US" sz="1400" dirty="0">
              <a:solidFill>
                <a:srgbClr val="603813"/>
              </a:solidFill>
            </a:endParaRPr>
          </a:p>
        </p:txBody>
      </p:sp>
      <p:sp>
        <p:nvSpPr>
          <p:cNvPr id="23" name="矩形 22"/>
          <p:cNvSpPr/>
          <p:nvPr>
            <p:custDataLst>
              <p:tags r:id="rId19"/>
            </p:custDataLst>
          </p:nvPr>
        </p:nvSpPr>
        <p:spPr>
          <a:xfrm>
            <a:off x="4045297" y="4002616"/>
            <a:ext cx="197993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en-US" sz="1600" dirty="0">
                <a:solidFill>
                  <a:srgbClr val="603813"/>
                </a:solidFill>
                <a:latin typeface="Calibri Light" panose="020F0302020204030204"/>
              </a:rPr>
              <a:t>Простой и понятный </a:t>
            </a:r>
            <a:endParaRPr lang="ru-RU" altLang="en-US" sz="1600" dirty="0">
              <a:solidFill>
                <a:srgbClr val="603813"/>
              </a:solidFill>
              <a:latin typeface="Calibri Light" panose="020F0302020204030204"/>
            </a:endParaRPr>
          </a:p>
          <a:p>
            <a:pPr algn="ctr"/>
            <a:r>
              <a:rPr lang="ru-RU" altLang="en-US" sz="1600" dirty="0">
                <a:solidFill>
                  <a:srgbClr val="603813"/>
                </a:solidFill>
                <a:latin typeface="Calibri Light" panose="020F0302020204030204"/>
              </a:rPr>
              <a:t>интерфейс</a:t>
            </a:r>
            <a:endParaRPr lang="ru-RU" altLang="en-US" sz="1600" dirty="0">
              <a:solidFill>
                <a:srgbClr val="603813"/>
              </a:solidFill>
              <a:latin typeface="Calibri Light" panose="020F0302020204030204"/>
            </a:endParaRPr>
          </a:p>
        </p:txBody>
      </p:sp>
      <p:sp>
        <p:nvSpPr>
          <p:cNvPr id="24" name="矩形 23"/>
          <p:cNvSpPr/>
          <p:nvPr>
            <p:custDataLst>
              <p:tags r:id="rId20"/>
            </p:custDataLst>
          </p:nvPr>
        </p:nvSpPr>
        <p:spPr>
          <a:xfrm>
            <a:off x="6280564" y="4125730"/>
            <a:ext cx="2001322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 smtClean="0">
                <a:solidFill>
                  <a:srgbClr val="603813"/>
                </a:solidFill>
              </a:rPr>
              <a:t> </a:t>
            </a:r>
            <a:endParaRPr lang="zh-CN" altLang="en-US" sz="1400" dirty="0">
              <a:solidFill>
                <a:srgbClr val="603813"/>
              </a:solidFill>
            </a:endParaRPr>
          </a:p>
        </p:txBody>
      </p:sp>
      <p:sp>
        <p:nvSpPr>
          <p:cNvPr id="26" name="矩形 25"/>
          <p:cNvSpPr/>
          <p:nvPr>
            <p:custDataLst>
              <p:tags r:id="rId21"/>
            </p:custDataLst>
          </p:nvPr>
        </p:nvSpPr>
        <p:spPr>
          <a:xfrm>
            <a:off x="8377969" y="4534670"/>
            <a:ext cx="2001322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 smtClean="0">
                <a:solidFill>
                  <a:srgbClr val="603813"/>
                </a:solidFill>
              </a:rPr>
              <a:t> </a:t>
            </a:r>
            <a:endParaRPr lang="zh-CN" altLang="en-US" sz="1400" dirty="0">
              <a:solidFill>
                <a:srgbClr val="603813"/>
              </a:solidFill>
            </a:endParaRPr>
          </a:p>
        </p:txBody>
      </p:sp>
      <p:sp>
        <p:nvSpPr>
          <p:cNvPr id="27" name="矩形 26"/>
          <p:cNvSpPr/>
          <p:nvPr>
            <p:custDataLst>
              <p:tags r:id="rId22"/>
            </p:custDataLst>
          </p:nvPr>
        </p:nvSpPr>
        <p:spPr>
          <a:xfrm>
            <a:off x="8286926" y="4002616"/>
            <a:ext cx="225933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en-US" sz="1600" dirty="0">
                <a:solidFill>
                  <a:srgbClr val="603813"/>
                </a:solidFill>
                <a:latin typeface="Calibri Light" panose="020F0302020204030204"/>
              </a:rPr>
              <a:t>Понятная визуализация </a:t>
            </a:r>
            <a:endParaRPr lang="ru-RU" altLang="en-US" sz="1600" dirty="0">
              <a:solidFill>
                <a:srgbClr val="603813"/>
              </a:solidFill>
              <a:latin typeface="Calibri Light" panose="020F0302020204030204"/>
            </a:endParaRPr>
          </a:p>
          <a:p>
            <a:pPr algn="ctr"/>
            <a:r>
              <a:rPr lang="ru-RU" altLang="en-US" sz="1600" dirty="0">
                <a:solidFill>
                  <a:srgbClr val="603813"/>
                </a:solidFill>
                <a:latin typeface="Calibri Light" panose="020F0302020204030204"/>
              </a:rPr>
              <a:t>через диаграммы</a:t>
            </a:r>
            <a:endParaRPr lang="ru-RU" altLang="en-US" sz="1600" dirty="0">
              <a:solidFill>
                <a:srgbClr val="603813"/>
              </a:solidFill>
              <a:latin typeface="Calibri Light" panose="020F0302020204030204"/>
            </a:endParaRPr>
          </a:p>
        </p:txBody>
      </p:sp>
      <p:sp>
        <p:nvSpPr>
          <p:cNvPr id="29" name="矩形 26"/>
          <p:cNvSpPr/>
          <p:nvPr>
            <p:custDataLst>
              <p:tags r:id="rId23"/>
            </p:custDataLst>
          </p:nvPr>
        </p:nvSpPr>
        <p:spPr>
          <a:xfrm>
            <a:off x="6336206" y="4125806"/>
            <a:ext cx="188976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en-US" sz="1600" dirty="0">
                <a:solidFill>
                  <a:srgbClr val="603813"/>
                </a:solidFill>
                <a:latin typeface="Calibri Light" panose="020F0302020204030204"/>
              </a:rPr>
              <a:t>Сохранение данных</a:t>
            </a:r>
            <a:endParaRPr lang="ru-RU" altLang="en-US" sz="1600" dirty="0">
              <a:solidFill>
                <a:srgbClr val="603813"/>
              </a:solidFill>
              <a:latin typeface="Calibri Light" panose="020F0302020204030204"/>
            </a:endParaRPr>
          </a:p>
        </p:txBody>
      </p:sp>
      <p:sp>
        <p:nvSpPr>
          <p:cNvPr id="30" name="Текстовое поле 29"/>
          <p:cNvSpPr txBox="1"/>
          <p:nvPr/>
        </p:nvSpPr>
        <p:spPr>
          <a:xfrm>
            <a:off x="1059815" y="1481455"/>
            <a:ext cx="97739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en-US">
                <a:solidFill>
                  <a:srgbClr val="877969"/>
                </a:solidFill>
              </a:rPr>
              <a:t>Создано приложение, которое при нахождениии подходящей базы данных спрашивает, нужно ли ее загружать. При ответе «да» загружается найденная БД, при ответе «нет» создается новая БД. Все данные записываются в эту БД, есть возможность удаления некоторых данных, просмотр списков регулярных доходов/расходов и графиков.</a:t>
            </a:r>
            <a:endParaRPr lang="ru-RU" altLang="en-US">
              <a:solidFill>
                <a:srgbClr val="87796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Спасибо за внимание!</a:t>
            </a:r>
            <a:endParaRPr lang="ru-RU" altLang="en-US"/>
          </a:p>
        </p:txBody>
      </p:sp>
      <p:sp>
        <p:nvSpPr>
          <p:cNvPr id="5" name="Замещающий текст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ru-RU" altLang="en-US"/>
              <a:t> </a:t>
            </a:r>
            <a:endParaRPr lang="ru-RU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71.84976377952762,&quot;left&quot;:119.6790551181102,&quot;top&quot;:267.4429133858267,&quot;width&quot;:306.0622834645669}"/>
</p:tagLst>
</file>

<file path=ppt/tags/tag2.xml><?xml version="1.0" encoding="utf-8"?>
<p:tagLst xmlns:p="http://schemas.openxmlformats.org/presentationml/2006/main">
  <p:tag name="KSO_WM_DIAGRAM_VIRTUALLY_FRAME" val="{&quot;height&quot;:171.84976377952762,&quot;left&quot;:119.6790551181102,&quot;top&quot;:267.4429133858267,&quot;width&quot;:306.0622834645669}"/>
</p:tagLst>
</file>

<file path=ppt/tags/tag3.xml><?xml version="1.0" encoding="utf-8"?>
<p:tagLst xmlns:p="http://schemas.openxmlformats.org/presentationml/2006/main">
  <p:tag name="KSO_WM_DIAGRAM_VIRTUALLY_FRAME" val="{&quot;height&quot;:171.84976377952762,&quot;left&quot;:119.6790551181102,&quot;top&quot;:267.4429133858267,&quot;width&quot;:306.0622834645669}"/>
</p:tagLst>
</file>

<file path=ppt/tags/tag4.xml><?xml version="1.0" encoding="utf-8"?>
<p:tagLst xmlns:p="http://schemas.openxmlformats.org/presentationml/2006/main">
  <p:tag name="KSO_WM_DIAGRAM_VIRTUALLY_FRAME" val="{&quot;height&quot;:171.84976377952762,&quot;left&quot;:119.6790551181102,&quot;top&quot;:267.4429133858267,&quot;width&quot;:306.0622834645669}"/>
</p:tagLst>
</file>

<file path=ppt/tags/tag5.xml><?xml version="1.0" encoding="utf-8"?>
<p:tagLst xmlns:p="http://schemas.openxmlformats.org/presentationml/2006/main">
  <p:tag name="KSO_WM_DIAGRAM_VIRTUALLY_FRAME" val="{&quot;height&quot;:171.84976377952762,&quot;left&quot;:119.6790551181102,&quot;top&quot;:267.4429133858267,&quot;width&quot;:306.0622834645669}"/>
</p:tagLst>
</file>

<file path=ppt/tags/tag6.xml><?xml version="1.0" encoding="utf-8"?>
<p:tagLst xmlns:p="http://schemas.openxmlformats.org/presentationml/2006/main">
  <p:tag name="KSO_WM_DIAGRAM_VIRTUALLY_FRAME" val="{&quot;height&quot;:171.84976377952762,&quot;left&quot;:119.6790551181102,&quot;top&quot;:267.4429133858267,&quot;width&quot;:306.0622834645669}"/>
</p:tagLst>
</file>

<file path=ppt/tags/tag7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8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9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10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11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12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13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14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15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16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17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18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19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20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21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22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23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24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25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26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27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28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ags/tag29.xml><?xml version="1.0" encoding="utf-8"?>
<p:tagLst xmlns:p="http://schemas.openxmlformats.org/presentationml/2006/main">
  <p:tag name="KSO_WM_DIAGRAM_VIRTUALLY_FRAME" val="{&quot;height&quot;:232.11535433070867,&quot;left&quot;:66.12503937007874,&quot;top&quot;:234,&quot;width&quot;:827.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细">
      <a:majorFont>
        <a:latin typeface="Calibri Light"/>
        <a:ea typeface="微软雅黑"/>
        <a:cs typeface=""/>
      </a:majorFont>
      <a:minorFont>
        <a:latin typeface="Calibri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874</Words>
  <Application>WPS Presentation</Application>
  <PresentationFormat>宽屏</PresentationFormat>
  <Paragraphs>47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 Light</vt:lpstr>
      <vt:lpstr>Office Theme</vt:lpstr>
      <vt:lpstr>Финансовый аналитик</vt:lpstr>
      <vt:lpstr>О проекте</vt:lpstr>
      <vt:lpstr>Функции</vt:lpstr>
      <vt:lpstr>Результаты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annjo</dc:creator>
  <cp:lastModifiedBy>Анна Новикова</cp:lastModifiedBy>
  <cp:revision>36</cp:revision>
  <dcterms:created xsi:type="dcterms:W3CDTF">2015-12-04T05:36:00Z</dcterms:created>
  <dcterms:modified xsi:type="dcterms:W3CDTF">2025-11-27T18:55:50Z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1049-12.2.0.23149</vt:lpwstr>
  </property>
  <property fmtid="{D5CDD505-2E9C-101B-9397-08002B2CF9AE}" pid="3" name="ICV">
    <vt:lpwstr>203750A0627A4CB9A87AFB0A538493BC_13</vt:lpwstr>
  </property>
</Properties>
</file>